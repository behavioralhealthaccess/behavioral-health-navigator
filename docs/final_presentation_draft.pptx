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f6e4e84355479a" /><Relationship Type="http://schemas.openxmlformats.org/officeDocument/2006/relationships/extended-properties" Target="/docProps/app.xml" Id="Ree8c3e4e9cae4267" /><Relationship Type="http://schemas.openxmlformats.org/officeDocument/2006/relationships/officeDocument" Target="/ppt/presentation.xml" Id="R4985b7e1ab1d40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88576de3c74ce9"/>
  </p:sldMasterIdLst>
  <p:notesMasterIdLst>
    <p:notesMasterId xmlns:r="http://schemas.openxmlformats.org/officeDocument/2006/relationships" r:id="R719fa6e6aa6f42a2"/>
  </p:notesMasterIdLst>
  <p:sldIdLst>
    <p:sldId xmlns:r="http://schemas.openxmlformats.org/officeDocument/2006/relationships" id="256" r:id="R052575a7747f40d9"/>
    <p:sldId xmlns:r="http://schemas.openxmlformats.org/officeDocument/2006/relationships" id="257" r:id="R3dc89e17ed534506"/>
    <p:sldId xmlns:r="http://schemas.openxmlformats.org/officeDocument/2006/relationships" id="258" r:id="R6bd5005826be43b5"/>
    <p:sldId xmlns:r="http://schemas.openxmlformats.org/officeDocument/2006/relationships" id="259" r:id="R39b15a0c537d4953"/>
    <p:sldId xmlns:r="http://schemas.openxmlformats.org/officeDocument/2006/relationships" id="260" r:id="R8f02f96c1c6b4705"/>
    <p:sldId xmlns:r="http://schemas.openxmlformats.org/officeDocument/2006/relationships" id="261" r:id="R2182e39116304607"/>
    <p:sldId xmlns:r="http://schemas.openxmlformats.org/officeDocument/2006/relationships" id="262" r:id="R1c431046d30343b4"/>
    <p:sldId xmlns:r="http://schemas.openxmlformats.org/officeDocument/2006/relationships" id="263" r:id="Rbb1a976cbb68446c"/>
    <p:sldId xmlns:r="http://schemas.openxmlformats.org/officeDocument/2006/relationships" id="264" r:id="R6786e7e0330c469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8576de3c74ce9" /><Relationship Type="http://schemas.openxmlformats.org/officeDocument/2006/relationships/theme" Target="/ppt/theme/theme1.xml" Id="R8dea1db71e8c45c5" /><Relationship Type="http://schemas.openxmlformats.org/officeDocument/2006/relationships/notesMaster" Target="/ppt/notesMasters/notesMaster1.xml" Id="R719fa6e6aa6f42a2" /><Relationship Type="http://schemas.openxmlformats.org/officeDocument/2006/relationships/presProps" Target="/ppt/presProps.xml" Id="Rd07f8e11fe284325" /><Relationship Type="http://schemas.openxmlformats.org/officeDocument/2006/relationships/viewProps" Target="/ppt/viewProps.xml" Id="R21627af890c24a20" /><Relationship Type="http://schemas.openxmlformats.org/officeDocument/2006/relationships/tableStyles" Target="/ppt/tableStyles.xml" Id="R6634be0a7ed44dfb" /><Relationship Type="http://schemas.openxmlformats.org/officeDocument/2006/relationships/slide" Target="/ppt/slides/slide1.xml" Id="R052575a7747f40d9" /><Relationship Type="http://schemas.openxmlformats.org/officeDocument/2006/relationships/slide" Target="/ppt/slides/slide2.xml" Id="R3dc89e17ed534506" /><Relationship Type="http://schemas.openxmlformats.org/officeDocument/2006/relationships/slide" Target="/ppt/slides/slide3.xml" Id="R6bd5005826be43b5" /><Relationship Type="http://schemas.openxmlformats.org/officeDocument/2006/relationships/slide" Target="/ppt/slides/slide4.xml" Id="R39b15a0c537d4953" /><Relationship Type="http://schemas.openxmlformats.org/officeDocument/2006/relationships/slide" Target="/ppt/slides/slide5.xml" Id="R8f02f96c1c6b4705" /><Relationship Type="http://schemas.openxmlformats.org/officeDocument/2006/relationships/slide" Target="/ppt/slides/slide6.xml" Id="R2182e39116304607" /><Relationship Type="http://schemas.openxmlformats.org/officeDocument/2006/relationships/slide" Target="/ppt/slides/slide7.xml" Id="R1c431046d30343b4" /><Relationship Type="http://schemas.openxmlformats.org/officeDocument/2006/relationships/slide" Target="/ppt/slides/slide8.xml" Id="Rbb1a976cbb68446c" /><Relationship Type="http://schemas.openxmlformats.org/officeDocument/2006/relationships/slide" Target="/ppt/slides/slide9.xml" Id="R6786e7e0330c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853d2cd73845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3b4f38daa4808" /><Relationship Type="http://schemas.openxmlformats.org/officeDocument/2006/relationships/notesMaster" Target="/ppt/notesMasters/notesMaster1.xml" Id="R1778a763fadb49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9c3a23e25744d9" /><Relationship Type="http://schemas.openxmlformats.org/officeDocument/2006/relationships/notesMaster" Target="/ppt/notesMasters/notesMaster1.xml" Id="R66f0ad2645574c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d5eaea8fda42c0" /><Relationship Type="http://schemas.openxmlformats.org/officeDocument/2006/relationships/notesMaster" Target="/ppt/notesMasters/notesMaster1.xml" Id="Rd16423d61d7b48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de9bf693c4628" /><Relationship Type="http://schemas.openxmlformats.org/officeDocument/2006/relationships/notesMaster" Target="/ppt/notesMasters/notesMaster1.xml" Id="Rc199c6c8bed041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b5f2630f2640f7" /><Relationship Type="http://schemas.openxmlformats.org/officeDocument/2006/relationships/notesMaster" Target="/ppt/notesMasters/notesMaster1.xml" Id="R609af7b9de8945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69e9598ff64db9" /><Relationship Type="http://schemas.openxmlformats.org/officeDocument/2006/relationships/notesMaster" Target="/ppt/notesMasters/notesMaster1.xml" Id="R67096bb8e7ae4a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23a61d492044f6" /><Relationship Type="http://schemas.openxmlformats.org/officeDocument/2006/relationships/notesMaster" Target="/ppt/notesMasters/notesMaster1.xml" Id="R683d5372ee3e43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e524aaa35d4a20" /><Relationship Type="http://schemas.openxmlformats.org/officeDocument/2006/relationships/notesMaster" Target="/ppt/notesMasters/notesMaster1.xml" Id="Reaf825b62cea4c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0db84e7ebf4ec7" /><Relationship Type="http://schemas.openxmlformats.org/officeDocument/2006/relationships/notesMaster" Target="/ppt/notesMasters/notesMaster1.xml" Id="Rf445305f67bd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25531828b400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ecab64e0d2b4f66" /><Relationship Type="http://schemas.openxmlformats.org/officeDocument/2006/relationships/slideLayout" Target="/ppt/slideLayouts/slideLayout2.xml" Id="Rd3e5df0731b248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e5df0731b248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3d57f0e42142c3" /><Relationship Type="http://schemas.openxmlformats.org/officeDocument/2006/relationships/notesSlide" Target="/ppt/notesSlides/notesSlide1.xml" Id="Ra22047fb139b45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e040ada1f248cf" /><Relationship Type="http://schemas.openxmlformats.org/officeDocument/2006/relationships/notesSlide" Target="/ppt/notesSlides/notesSlide2.xml" Id="R3dbac307dd4941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21696b2054a7c" /><Relationship Type="http://schemas.openxmlformats.org/officeDocument/2006/relationships/notesSlide" Target="/ppt/notesSlides/notesSlide3.xml" Id="R5367234b040f41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ba636b09d4714" /><Relationship Type="http://schemas.openxmlformats.org/officeDocument/2006/relationships/notesSlide" Target="/ppt/notesSlides/notesSlide4.xml" Id="Ra1b8e043747c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317f7a27b0470f" /><Relationship Type="http://schemas.openxmlformats.org/officeDocument/2006/relationships/notesSlide" Target="/ppt/notesSlides/notesSlide5.xml" Id="Rcaf8f3c0c32044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ae46a6d5bc42ef" /><Relationship Type="http://schemas.openxmlformats.org/officeDocument/2006/relationships/notesSlide" Target="/ppt/notesSlides/notesSlide6.xml" Id="Ra8cfb6fd0bb643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d15e8f061a4b6e" /><Relationship Type="http://schemas.openxmlformats.org/officeDocument/2006/relationships/notesSlide" Target="/ppt/notesSlides/notesSlide7.xml" Id="Red2873216e424e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dfcafb02a4bc9" /><Relationship Type="http://schemas.openxmlformats.org/officeDocument/2006/relationships/notesSlide" Target="/ppt/notesSlides/notesSlide8.xml" Id="R21ce46096b0e4d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f0950fc9148c7" /><Relationship Type="http://schemas.openxmlformats.org/officeDocument/2006/relationships/notesSlide" Target="/ppt/notesSlides/notesSlide9.xml" Id="Ra151d964361b4b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left-field">
            <a:extLst xmlns:a="http://schemas.openxmlformats.org/drawingml/2006/main">
              <a:ext uri="{FF2B5EF4-FFF2-40B4-BE49-F238E27FC236}">
                <a16:creationId xmlns:a16="http://schemas.microsoft.com/office/drawing/2014/main" id="{A8E3F1B4-40F1-406C-A576-D1F73D9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24F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F1E25D2-92FD-41B9-A236-4396EF82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EEE6"/>
                </a:solidFill>
              </a:defRPr>
            </a:pPr>
            <a:r>
              <a:rPr sz="1800" b="1">
                <a:solidFill>
                  <a:srgbClr val="D6EEE6"/>
                </a:solidFill>
              </a:rPr>
              <a:t>AI Campus Final Demo</a:t>
            </a:r>
          </a:p>
        </p:txBody>
      </p:sp>
      <p:sp>
        <p:nvSpPr>
          <p:cNvPr id="3" name="cover-team">
            <a:extLst xmlns:a="http://schemas.openxmlformats.org/drawingml/2006/main">
              <a:ext uri="{FF2B5EF4-FFF2-40B4-BE49-F238E27FC236}">
                <a16:creationId xmlns:a16="http://schemas.microsoft.com/office/drawing/2014/main" id="{989445EA-EFC2-477D-A1EA-39B452C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6291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Team 3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2CD72C26-8213-4183-A465-5CB3FAD6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E"/>
          </a:solidFill>
          <a:ln xmlns:a="http://schemas.openxmlformats.org/drawingml/2006/main" w="0">
            <a:solidFill>
              <a:srgbClr val="F1B64E"/>
            </a:solidFill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BB0990F0-D815-4AED-9440-54F19BB3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4629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6EEE6"/>
                </a:solidFill>
              </a:defRPr>
            </a:pPr>
            <a:r>
              <a:rPr sz="2250" b="0">
                <a:solidFill>
                  <a:srgbClr val="D6EEE6"/>
                </a:solidFill>
              </a:rPr>
              <a:t>May 2026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0BFBE44-7F64-4EF9-B9CD-5003AD6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98869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322"/>
                </a:solidFill>
              </a:defRPr>
            </a:pPr>
            <a:r>
              <a:rPr sz="5100" b="1">
                <a:solidFill>
                  <a:srgbClr val="172322"/>
                </a:solidFill>
              </a:rPr>
              <a:t>New Jersey Behavioral Health Access Navigator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435CFFC-D969-4573-B7EA-F7257BCA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9715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3625F"/>
                </a:solidFill>
              </a:defRPr>
            </a:pPr>
            <a:r>
              <a:rPr sz="2250" b="0">
                <a:solidFill>
                  <a:srgbClr val="53625F"/>
                </a:solidFill>
              </a:rPr>
              <a:t>A public-data prototype for finding and comparing behavioral health facilities across New Jersey.</a:t>
            </a:r>
          </a:p>
        </p:txBody>
      </p:sp>
      <p:sp>
        <p:nvSpPr>
          <p:cNvPr id="8" name="cover-names">
            <a:extLst xmlns:a="http://schemas.openxmlformats.org/drawingml/2006/main">
              <a:ext uri="{FF2B5EF4-FFF2-40B4-BE49-F238E27FC236}">
                <a16:creationId xmlns:a16="http://schemas.microsoft.com/office/drawing/2014/main" id="{41E7329A-80D8-4205-9FED-41A1B01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943600"/>
            <a:ext cx="689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322"/>
                </a:solidFill>
              </a:defRPr>
            </a:pPr>
            <a:r>
              <a:rPr sz="1650" b="0">
                <a:solidFill>
                  <a:srgbClr val="172322"/>
                </a:solidFill>
              </a:rPr>
              <a:t>Caitlin Cohen | Sarthak Chandervanshi | Sangeetha Maheshwari | Joseph Thorpe</a:t>
            </a:r>
          </a:p>
        </p:txBody>
      </p:sp>
      <p:sp>
        <p:nvSpPr>
          <p:cNvPr id="9" name="cover-advisor">
            <a:extLst xmlns:a="http://schemas.openxmlformats.org/drawingml/2006/main">
              <a:ext uri="{FF2B5EF4-FFF2-40B4-BE49-F238E27FC236}">
                <a16:creationId xmlns:a16="http://schemas.microsoft.com/office/drawing/2014/main" id="{61C0D36F-AF53-4D92-BB56-3DEDC1BD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57950"/>
            <a:ext cx="1122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25F"/>
                </a:solidFill>
              </a:defRPr>
            </a:pPr>
            <a:r>
              <a:rPr sz="1575" b="0">
                <a:solidFill>
                  <a:srgbClr val="53625F"/>
                </a:solidFill>
              </a:rPr>
              <a:t>Faculty advisor: Dr. Andrei Nikiforov</a:t>
            </a:r>
          </a:p>
        </p:txBody>
      </p:sp>
      <p:sp>
        <p:nvSpPr>
          <p:cNvPr id="10" name="cover-repo">
            <a:extLst xmlns:a="http://schemas.openxmlformats.org/drawingml/2006/main">
              <a:ext uri="{FF2B5EF4-FFF2-40B4-BE49-F238E27FC236}">
                <a16:creationId xmlns:a16="http://schemas.microsoft.com/office/drawing/2014/main" id="{DB249028-1C6F-4705-9DFE-C6D3235F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726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EEE6"/>
                </a:solidFill>
              </a:defRPr>
            </a:pPr>
            <a:r>
              <a:rPr sz="1350" b="0">
                <a:solidFill>
                  <a:srgbClr val="D6EEE6"/>
                </a:solidFill>
              </a:rPr>
              <a:t>BehavioralHealthAccess/behavioral-health-navigator</a:t>
            </a:r>
          </a:p>
        </p:txBody>
      </p:sp>
    </p:spTree>
    <p:extLst>
      <p:ext uri="{BB962C8B-B14F-4D97-AF65-F5344CB8AC3E}">
        <p14:creationId xmlns:p14="http://schemas.microsoft.com/office/powerpoint/2010/main" val="844385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57D9890-7E0E-4474-95D3-064CBC33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D5EA33-19F8-442F-ADB0-2E02170A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Behavioral health navigation is an information problem before it is a model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10B878-5C7F-4479-9B35-9B2B2C3E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1601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The project helps a general reader see what options exist, how they differ, and where human verification is still required.</a:t>
            </a:r>
          </a:p>
        </p:txBody>
      </p:sp>
      <p:sp>
        <p:nvSpPr>
          <p:cNvPr id="4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00B741BB-DF8E-45D7-B0A2-8988E73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7460"/>
            <a:ext cx="8551069" cy="6537960"/>
          </a:xfrm>
          <a:prstGeom xmlns:a="http://schemas.openxmlformats.org/drawingml/2006/main" prst="roundRect">
            <a:avLst>
              <a:gd name="adj" fmla="val 116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problem-left-title">
            <a:extLst xmlns:a="http://schemas.openxmlformats.org/drawingml/2006/main">
              <a:ext uri="{FF2B5EF4-FFF2-40B4-BE49-F238E27FC236}">
                <a16:creationId xmlns:a16="http://schemas.microsoft.com/office/drawing/2014/main" id="{E63F7636-8B9B-40B8-8045-C65355E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790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2"/>
                </a:solidFill>
              </a:defRPr>
            </a:pPr>
            <a:r>
              <a:rPr sz="2325" b="1">
                <a:solidFill>
                  <a:srgbClr val="172322"/>
                </a:solidFill>
              </a:rPr>
              <a:t>What makes the search hard</a:t>
            </a:r>
          </a:p>
        </p:txBody>
      </p:sp>
      <p:sp>
        <p:nvSpPr>
          <p:cNvPr id="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48B02D8D-0D2F-4E55-BD9A-523EBCE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2A00BA8-CDEE-4568-932D-C48C7642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Facility directories are useful but difficult to scan quickly.</a:t>
            </a:r>
          </a:p>
        </p:txBody>
      </p:sp>
      <p:sp>
        <p:nvSpPr>
          <p:cNvPr id="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28BA5C00-7710-423C-9471-93876079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0626154-4A8B-49BF-8279-51A0F39D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Service, payment, age-group, and setting details are spread across many fields.</a:t>
            </a:r>
          </a:p>
        </p:txBody>
      </p:sp>
      <p:sp>
        <p:nvSpPr>
          <p:cNvPr id="1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CA5EA3BD-CAD8-41E4-A18F-AE5A0885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FC51104D-F25F-4102-96D9-B22EF20D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A navigator needs plausible starting points, not an automated clinical decision.</a:t>
            </a:r>
          </a:p>
        </p:txBody>
      </p:sp>
      <p:sp>
        <p:nvSpPr>
          <p:cNvPr id="12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A58457AE-1FB3-488C-A56F-FBE2015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169" y="2537460"/>
            <a:ext cx="7736681" cy="6537960"/>
          </a:xfrm>
          <a:prstGeom xmlns:a="http://schemas.openxmlformats.org/drawingml/2006/main" prst="roundRect">
            <a:avLst>
              <a:gd name="adj" fmla="val 1166"/>
            </a:avLst>
          </a:prstGeom>
          <a:solidFill xmlns:a="http://schemas.openxmlformats.org/drawingml/2006/main">
            <a:srgbClr val="E8F1ED"/>
          </a:solidFill>
        </p:spPr>
      </p:sp>
      <p:sp>
        <p:nvSpPr>
          <p:cNvPr id="13" name="problem-right-title">
            <a:extLst xmlns:a="http://schemas.openxmlformats.org/drawingml/2006/main">
              <a:ext uri="{FF2B5EF4-FFF2-40B4-BE49-F238E27FC236}">
                <a16:creationId xmlns:a16="http://schemas.microsoft.com/office/drawing/2014/main" id="{C685E17F-E969-4447-B295-40B0EA90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38450"/>
            <a:ext cx="7086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524F"/>
                </a:solidFill>
              </a:defRPr>
            </a:pPr>
            <a:r>
              <a:rPr sz="2325" b="1">
                <a:solidFill>
                  <a:srgbClr val="14524F"/>
                </a:solidFill>
              </a:rPr>
              <a:t>Design principle</a:t>
            </a:r>
          </a:p>
        </p:txBody>
      </p:sp>
      <p:sp>
        <p:nvSpPr>
          <p:cNvPr id="14" name="design-principle">
            <a:extLst xmlns:a="http://schemas.openxmlformats.org/drawingml/2006/main">
              <a:ext uri="{FF2B5EF4-FFF2-40B4-BE49-F238E27FC236}">
                <a16:creationId xmlns:a16="http://schemas.microsoft.com/office/drawing/2014/main" id="{D45B9510-767F-489D-83A6-A699CF3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09950"/>
            <a:ext cx="70866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322"/>
                </a:solidFill>
              </a:defRPr>
            </a:pPr>
            <a:r>
              <a:rPr sz="2550" b="1">
                <a:solidFill>
                  <a:srgbClr val="172322"/>
                </a:solidFill>
              </a:rPr>
              <a:t>Make the public data easier to navigate while keeping the model modest, transparent, and bounded.</a:t>
            </a:r>
          </a:p>
        </p:txBody>
      </p:sp>
      <p:sp>
        <p:nvSpPr>
          <p:cNvPr id="15" name="design-boundary">
            <a:extLst xmlns:a="http://schemas.openxmlformats.org/drawingml/2006/main">
              <a:ext uri="{FF2B5EF4-FFF2-40B4-BE49-F238E27FC236}">
                <a16:creationId xmlns:a16="http://schemas.microsoft.com/office/drawing/2014/main" id="{458E8809-FF3A-4559-AC95-E5985D2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81550"/>
            <a:ext cx="7086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25F"/>
                </a:solidFill>
              </a:defRPr>
            </a:pPr>
            <a:r>
              <a:rPr sz="1725" b="0">
                <a:solidFill>
                  <a:srgbClr val="53625F"/>
                </a:solidFill>
              </a:rPr>
              <a:t>The prototype points users toward records to verify. It does not confirm availability, clinical fit, or current insurance acceptance.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E8D6E54-B3AD-4EEC-AD25-DBA7C8E8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AI Campus | Team 3 | May 2026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7FE05C-D176-41BF-961C-F6F8B5F9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2063912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DB64C41C-0825-4549-8E02-74760921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FINAL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64DD22-8ABC-4737-A5EB-DF927424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72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The team's Google Drive work has been organized into a public GitHub submission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89E99C-802B-4BFD-89EC-ED1F011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2211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The repository is structured so a reader can start at the README and move through data, notebooks, app, and documentation.</a:t>
            </a:r>
          </a:p>
        </p:txBody>
      </p:sp>
      <p:sp>
        <p:nvSpPr>
          <p:cNvPr id="4" name="artifact-public-github-repo">
            <a:extLst xmlns:a="http://schemas.openxmlformats.org/drawingml/2006/main">
              <a:ext uri="{FF2B5EF4-FFF2-40B4-BE49-F238E27FC236}">
                <a16:creationId xmlns:a16="http://schemas.microsoft.com/office/drawing/2014/main" id="{FBFCEA30-A2AE-43AE-8FF8-C166A52B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8191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artifact-color">
            <a:extLst xmlns:a="http://schemas.openxmlformats.org/drawingml/2006/main">
              <a:ext uri="{FF2B5EF4-FFF2-40B4-BE49-F238E27FC236}">
                <a16:creationId xmlns:a16="http://schemas.microsoft.com/office/drawing/2014/main" id="{32D1D556-B15E-4A4C-B643-59BF49F8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143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24F"/>
          </a:solidFill>
        </p:spPr>
      </p:sp>
      <p:sp>
        <p:nvSpPr>
          <p:cNvPr id="6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A551F04E-8A4A-4966-805A-5901964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744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322"/>
                </a:solidFill>
              </a:defRPr>
            </a:pPr>
            <a:r>
              <a:rPr sz="1875" b="1">
                <a:solidFill>
                  <a:srgbClr val="172322"/>
                </a:solidFill>
              </a:rPr>
              <a:t>Public GitHub repo</a:t>
            </a:r>
          </a:p>
        </p:txBody>
      </p:sp>
      <p:sp>
        <p:nvSpPr>
          <p:cNvPr id="7" name="artifact-detail">
            <a:extLst xmlns:a="http://schemas.openxmlformats.org/drawingml/2006/main">
              <a:ext uri="{FF2B5EF4-FFF2-40B4-BE49-F238E27FC236}">
                <a16:creationId xmlns:a16="http://schemas.microsoft.com/office/drawing/2014/main" id="{6B407BF8-8E31-47FE-98ED-99BAC1CA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7448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25F"/>
                </a:solidFill>
              </a:defRPr>
            </a:pPr>
            <a:r>
              <a:rPr sz="1425" b="0">
                <a:solidFill>
                  <a:srgbClr val="53625F"/>
                </a:solidFill>
              </a:rPr>
              <a:t>README-first navigation for reviewers and team members.</a:t>
            </a:r>
          </a:p>
        </p:txBody>
      </p:sp>
      <p:sp>
        <p:nvSpPr>
          <p:cNvPr id="8" name="screenshot-github-repository-front-page">
            <a:extLst xmlns:a="http://schemas.openxmlformats.org/drawingml/2006/main">
              <a:ext uri="{FF2B5EF4-FFF2-40B4-BE49-F238E27FC236}">
                <a16:creationId xmlns:a16="http://schemas.microsoft.com/office/drawing/2014/main" id="{1E510BF5-083E-47C4-BAF1-01A86FC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8191500" cy="2117090"/>
          </a:xfrm>
          <a:prstGeom xmlns:a="http://schemas.openxmlformats.org/drawingml/2006/main" prst="roundRect">
            <a:avLst>
              <a:gd name="adj" fmla="val 3599"/>
            </a:avLst>
          </a:prstGeom>
          <a:solidFill xmlns:a="http://schemas.openxmlformats.org/drawingml/2006/main">
            <a:srgbClr val="EAF2FB"/>
          </a:solidFill>
        </p:spPr>
      </p:sp>
      <p:sp>
        <p:nvSpPr>
          <p:cNvPr id="9" name="screenshot-needed-label">
            <a:extLst xmlns:a="http://schemas.openxmlformats.org/drawingml/2006/main">
              <a:ext uri="{FF2B5EF4-FFF2-40B4-BE49-F238E27FC236}">
                <a16:creationId xmlns:a16="http://schemas.microsoft.com/office/drawing/2014/main" id="{0E12FF3E-CD45-46A3-98C3-C6AFA97E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7543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68A8"/>
                </a:solidFill>
              </a:defRPr>
            </a:pPr>
            <a:r>
              <a:rPr sz="1575" b="1">
                <a:solidFill>
                  <a:srgbClr val="2F68A8"/>
                </a:solidFill>
              </a:rPr>
              <a:t>Screenshot needed</a:t>
            </a:r>
          </a:p>
        </p:txBody>
      </p:sp>
      <p:sp>
        <p:nvSpPr>
          <p:cNvPr id="10" name="screenshot-title">
            <a:extLst xmlns:a="http://schemas.openxmlformats.org/drawingml/2006/main">
              <a:ext uri="{FF2B5EF4-FFF2-40B4-BE49-F238E27FC236}">
                <a16:creationId xmlns:a16="http://schemas.microsoft.com/office/drawing/2014/main" id="{29229888-BDC6-4966-9826-4C9ED1FE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7543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2"/>
                </a:solidFill>
              </a:defRPr>
            </a:pPr>
            <a:r>
              <a:rPr sz="2325" b="1">
                <a:solidFill>
                  <a:srgbClr val="172322"/>
                </a:solidFill>
              </a:rPr>
              <a:t>GitHub repository front page</a:t>
            </a:r>
          </a:p>
        </p:txBody>
      </p:sp>
      <p:sp>
        <p:nvSpPr>
          <p:cNvPr id="11" name="screenshot-detail">
            <a:extLst xmlns:a="http://schemas.openxmlformats.org/drawingml/2006/main">
              <a:ext uri="{FF2B5EF4-FFF2-40B4-BE49-F238E27FC236}">
                <a16:creationId xmlns:a16="http://schemas.microsoft.com/office/drawing/2014/main" id="{D7FC8D0D-857D-47C2-ACBA-68E1176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52850"/>
            <a:ext cx="754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5F"/>
                </a:solidFill>
              </a:defRPr>
            </a:pPr>
            <a:r>
              <a:rPr sz="1650" b="0">
                <a:solidFill>
                  <a:srgbClr val="53625F"/>
                </a:solidFill>
              </a:rPr>
              <a:t>Use the repo README view showing the main folders and project summary.</a:t>
            </a:r>
          </a:p>
        </p:txBody>
      </p:sp>
      <p:sp>
        <p:nvSpPr>
          <p:cNvPr id="12" name="artifact-final-report">
            <a:extLst xmlns:a="http://schemas.openxmlformats.org/drawingml/2006/main">
              <a:ext uri="{FF2B5EF4-FFF2-40B4-BE49-F238E27FC236}">
                <a16:creationId xmlns:a16="http://schemas.microsoft.com/office/drawing/2014/main" id="{80859929-8A0C-4958-AD45-2CB0F4E3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0740"/>
            <a:ext cx="8191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artifact-color">
            <a:extLst xmlns:a="http://schemas.openxmlformats.org/drawingml/2006/main">
              <a:ext uri="{FF2B5EF4-FFF2-40B4-BE49-F238E27FC236}">
                <a16:creationId xmlns:a16="http://schemas.microsoft.com/office/drawing/2014/main" id="{79943FF5-4437-432C-926C-F440879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1143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14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EFAD6AD5-8208-4A38-8731-5266C71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744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322"/>
                </a:solidFill>
              </a:defRPr>
            </a:pPr>
            <a:r>
              <a:rPr sz="1875" b="1">
                <a:solidFill>
                  <a:srgbClr val="172322"/>
                </a:solidFill>
              </a:rPr>
              <a:t>Final report</a:t>
            </a:r>
          </a:p>
        </p:txBody>
      </p:sp>
      <p:sp>
        <p:nvSpPr>
          <p:cNvPr id="15" name="artifact-detail">
            <a:extLst xmlns:a="http://schemas.openxmlformats.org/drawingml/2006/main">
              <a:ext uri="{FF2B5EF4-FFF2-40B4-BE49-F238E27FC236}">
                <a16:creationId xmlns:a16="http://schemas.microsoft.com/office/drawing/2014/main" id="{301AFCFB-E65E-4768-B9FC-7A36FFCA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7448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25F"/>
                </a:solidFill>
              </a:defRPr>
            </a:pPr>
            <a:r>
              <a:rPr sz="1425" b="0">
                <a:solidFill>
                  <a:srgbClr val="53625F"/>
                </a:solidFill>
              </a:rPr>
              <a:t>Polished DOCX and PDF versions of the written submission.</a:t>
            </a:r>
          </a:p>
        </p:txBody>
      </p:sp>
      <p:sp>
        <p:nvSpPr>
          <p:cNvPr id="16" name="artifact-data-extract">
            <a:extLst xmlns:a="http://schemas.openxmlformats.org/drawingml/2006/main">
              <a:ext uri="{FF2B5EF4-FFF2-40B4-BE49-F238E27FC236}">
                <a16:creationId xmlns:a16="http://schemas.microsoft.com/office/drawing/2014/main" id="{09AF4628-8950-49E8-97F5-D38E9FAB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50740"/>
            <a:ext cx="8191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artifact-color">
            <a:extLst xmlns:a="http://schemas.openxmlformats.org/drawingml/2006/main">
              <a:ext uri="{FF2B5EF4-FFF2-40B4-BE49-F238E27FC236}">
                <a16:creationId xmlns:a16="http://schemas.microsoft.com/office/drawing/2014/main" id="{BF9AB647-FB68-4B13-B0D0-AD8840A4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76800"/>
            <a:ext cx="1143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8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C3B5E314-B807-4EA3-B0D4-88C70767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48250"/>
            <a:ext cx="744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322"/>
                </a:solidFill>
              </a:defRPr>
            </a:pPr>
            <a:r>
              <a:rPr sz="1875" b="1">
                <a:solidFill>
                  <a:srgbClr val="172322"/>
                </a:solidFill>
              </a:rPr>
              <a:t>Data extract</a:t>
            </a:r>
          </a:p>
        </p:txBody>
      </p:sp>
      <p:sp>
        <p:nvSpPr>
          <p:cNvPr id="19" name="artifact-detail">
            <a:extLst xmlns:a="http://schemas.openxmlformats.org/drawingml/2006/main">
              <a:ext uri="{FF2B5EF4-FFF2-40B4-BE49-F238E27FC236}">
                <a16:creationId xmlns:a16="http://schemas.microsoft.com/office/drawing/2014/main" id="{F2D10214-9694-4F91-A23F-4338BC58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10200"/>
            <a:ext cx="7448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25F"/>
                </a:solidFill>
              </a:defRPr>
            </a:pPr>
            <a:r>
              <a:rPr sz="1425" b="0">
                <a:solidFill>
                  <a:srgbClr val="53625F"/>
                </a:solidFill>
              </a:rPr>
              <a:t>213 New Jersey facilities with 57 decoded public-data fields.</a:t>
            </a:r>
          </a:p>
        </p:txBody>
      </p:sp>
      <p:sp>
        <p:nvSpPr>
          <p:cNvPr id="20" name="artifact-notebooks-and-prototype">
            <a:extLst xmlns:a="http://schemas.openxmlformats.org/drawingml/2006/main">
              <a:ext uri="{FF2B5EF4-FFF2-40B4-BE49-F238E27FC236}">
                <a16:creationId xmlns:a16="http://schemas.microsoft.com/office/drawing/2014/main" id="{06D62422-E5D6-486E-8327-E0952CDE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58330"/>
            <a:ext cx="8191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artifact-color">
            <a:extLst xmlns:a="http://schemas.openxmlformats.org/drawingml/2006/main">
              <a:ext uri="{FF2B5EF4-FFF2-40B4-BE49-F238E27FC236}">
                <a16:creationId xmlns:a16="http://schemas.microsoft.com/office/drawing/2014/main" id="{67662D61-82EC-4CB8-8314-2896B7F0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62800"/>
            <a:ext cx="1143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22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477764E4-07B8-4DDC-9C66-111E86D0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53300"/>
            <a:ext cx="744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322"/>
                </a:solidFill>
              </a:defRPr>
            </a:pPr>
            <a:r>
              <a:rPr sz="1875" b="1">
                <a:solidFill>
                  <a:srgbClr val="172322"/>
                </a:solidFill>
              </a:rPr>
              <a:t>Notebooks and prototype</a:t>
            </a:r>
          </a:p>
        </p:txBody>
      </p:sp>
      <p:sp>
        <p:nvSpPr>
          <p:cNvPr id="23" name="artifact-detail">
            <a:extLst xmlns:a="http://schemas.openxmlformats.org/drawingml/2006/main">
              <a:ext uri="{FF2B5EF4-FFF2-40B4-BE49-F238E27FC236}">
                <a16:creationId xmlns:a16="http://schemas.microsoft.com/office/drawing/2014/main" id="{0290E380-B907-4971-8E89-137D67B1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715250"/>
            <a:ext cx="7448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25F"/>
                </a:solidFill>
              </a:defRPr>
            </a:pPr>
            <a:r>
              <a:rPr sz="1425" b="0">
                <a:solidFill>
                  <a:srgbClr val="53625F"/>
                </a:solidFill>
              </a:rPr>
              <a:t>Exploration, tiering workflow, and a Streamlit navigator app.</a:t>
            </a:r>
          </a:p>
        </p:txBody>
      </p:sp>
      <p:sp>
        <p:nvSpPr>
          <p:cNvPr id="24" name="artifact-responsible-ai-docs">
            <a:extLst xmlns:a="http://schemas.openxmlformats.org/drawingml/2006/main">
              <a:ext uri="{FF2B5EF4-FFF2-40B4-BE49-F238E27FC236}">
                <a16:creationId xmlns:a16="http://schemas.microsoft.com/office/drawing/2014/main" id="{93FA35A9-5E60-4987-AB92-5A45BA55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958330"/>
            <a:ext cx="8191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artifact-color">
            <a:extLst xmlns:a="http://schemas.openxmlformats.org/drawingml/2006/main">
              <a:ext uri="{FF2B5EF4-FFF2-40B4-BE49-F238E27FC236}">
                <a16:creationId xmlns:a16="http://schemas.microsoft.com/office/drawing/2014/main" id="{DDC69238-E287-4421-90D0-AE3E94A4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62800"/>
            <a:ext cx="1143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26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9C2D1C96-18A1-4139-B52A-E2BA48BA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53300"/>
            <a:ext cx="744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322"/>
                </a:solidFill>
              </a:defRPr>
            </a:pPr>
            <a:r>
              <a:rPr sz="1875" b="1">
                <a:solidFill>
                  <a:srgbClr val="172322"/>
                </a:solidFill>
              </a:rPr>
              <a:t>Responsible AI docs</a:t>
            </a:r>
          </a:p>
        </p:txBody>
      </p:sp>
      <p:sp>
        <p:nvSpPr>
          <p:cNvPr id="27" name="artifact-detail">
            <a:extLst xmlns:a="http://schemas.openxmlformats.org/drawingml/2006/main">
              <a:ext uri="{FF2B5EF4-FFF2-40B4-BE49-F238E27FC236}">
                <a16:creationId xmlns:a16="http://schemas.microsoft.com/office/drawing/2014/main" id="{EDE21541-E9F4-422A-8E9E-9CF4C663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715250"/>
            <a:ext cx="7448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25F"/>
                </a:solidFill>
              </a:defRPr>
            </a:pPr>
            <a:r>
              <a:rPr sz="1425" b="0">
                <a:solidFill>
                  <a:srgbClr val="53625F"/>
                </a:solidFill>
              </a:rPr>
              <a:t>Clear boundaries for what the tool can and cannot claim.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B27F8B0-6538-4469-B966-BD0A25A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AI Campus | Team 3 | May 2026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6243EBE-313A-4DB3-B268-9A40B93D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1296901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265E7665-0F49-47EA-B68C-B9D7642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DATA FOUNDATION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C7B2C6-1870-47D3-ADD9-85BFA49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The public submission uses a lightweight NJ extract rather than multi-GB raw files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40B80A-5119-44D6-9A10-64494F67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293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Large raw source files remain outside GitHub; the repo contains a reviewer-friendly sample that supports the final notebooks and app.</a:t>
            </a:r>
          </a:p>
        </p:txBody>
      </p:sp>
      <p:sp>
        <p:nvSpPr>
          <p:cNvPr id="4" name="stat-nj-facilities">
            <a:extLst xmlns:a="http://schemas.openxmlformats.org/drawingml/2006/main">
              <a:ext uri="{FF2B5EF4-FFF2-40B4-BE49-F238E27FC236}">
                <a16:creationId xmlns:a16="http://schemas.microsoft.com/office/drawing/2014/main" id="{7F8CDD52-DDD0-449D-BB21-CB0E2F3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1710"/>
            <a:ext cx="337947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stat-value">
            <a:extLst xmlns:a="http://schemas.openxmlformats.org/drawingml/2006/main">
              <a:ext uri="{FF2B5EF4-FFF2-40B4-BE49-F238E27FC236}">
                <a16:creationId xmlns:a16="http://schemas.microsoft.com/office/drawing/2014/main" id="{5B29F2E6-E183-4E97-AE23-AAB16741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2876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524F"/>
                </a:solidFill>
              </a:defRPr>
            </a:pPr>
            <a:r>
              <a:rPr sz="4050" b="1">
                <a:solidFill>
                  <a:srgbClr val="14524F"/>
                </a:solidFill>
              </a:rPr>
              <a:t>213</a:t>
            </a:r>
          </a:p>
        </p:txBody>
      </p:sp>
      <p:sp>
        <p:nvSpPr>
          <p:cNvPr id="6" name="stat-label">
            <a:extLst xmlns:a="http://schemas.openxmlformats.org/drawingml/2006/main">
              <a:ext uri="{FF2B5EF4-FFF2-40B4-BE49-F238E27FC236}">
                <a16:creationId xmlns:a16="http://schemas.microsoft.com/office/drawing/2014/main" id="{7A41C4EC-16AC-4502-9F83-4EF738BC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NJ facilities</a:t>
            </a:r>
          </a:p>
        </p:txBody>
      </p:sp>
      <p:sp>
        <p:nvSpPr>
          <p:cNvPr id="7" name="stat-decoded-fields">
            <a:extLst xmlns:a="http://schemas.openxmlformats.org/drawingml/2006/main">
              <a:ext uri="{FF2B5EF4-FFF2-40B4-BE49-F238E27FC236}">
                <a16:creationId xmlns:a16="http://schemas.microsoft.com/office/drawing/2014/main" id="{BCC6320F-1F8B-45D5-B145-05C2A7AB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0" y="2251710"/>
            <a:ext cx="337947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stat-value">
            <a:extLst xmlns:a="http://schemas.openxmlformats.org/drawingml/2006/main">
              <a:ext uri="{FF2B5EF4-FFF2-40B4-BE49-F238E27FC236}">
                <a16:creationId xmlns:a16="http://schemas.microsoft.com/office/drawing/2014/main" id="{0902D4E2-7445-451A-AF5E-93F7D8F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90800"/>
            <a:ext cx="2876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F68A8"/>
                </a:solidFill>
              </a:defRPr>
            </a:pPr>
            <a:r>
              <a:rPr sz="4050" b="1">
                <a:solidFill>
                  <a:srgbClr val="2F68A8"/>
                </a:solidFill>
              </a:rPr>
              <a:t>57</a:t>
            </a:r>
          </a:p>
        </p:txBody>
      </p:sp>
      <p:sp>
        <p:nvSpPr>
          <p:cNvPr id="9" name="stat-label">
            <a:extLst xmlns:a="http://schemas.openxmlformats.org/drawingml/2006/main">
              <a:ext uri="{FF2B5EF4-FFF2-40B4-BE49-F238E27FC236}">
                <a16:creationId xmlns:a16="http://schemas.microsoft.com/office/drawing/2014/main" id="{88B7A33D-0A82-4387-B4C8-EEA9E4A1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Decoded fields</a:t>
            </a:r>
          </a:p>
        </p:txBody>
      </p:sp>
      <p:sp>
        <p:nvSpPr>
          <p:cNvPr id="10" name="data-note">
            <a:extLst xmlns:a="http://schemas.openxmlformats.org/drawingml/2006/main">
              <a:ext uri="{FF2B5EF4-FFF2-40B4-BE49-F238E27FC236}">
                <a16:creationId xmlns:a16="http://schemas.microsoft.com/office/drawing/2014/main" id="{F96DBDC2-6AF1-4448-9AC4-78ECAE0D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2410"/>
            <a:ext cx="6930390" cy="5033010"/>
          </a:xfrm>
          <a:prstGeom xmlns:a="http://schemas.openxmlformats.org/drawingml/2006/main" prst="roundRect">
            <a:avLst>
              <a:gd name="adj" fmla="val 151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602910F1-A6F6-4385-8CB3-08D3741F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40CEB0C-5F58-41FD-80B2-03CB991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611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322"/>
                </a:solidFill>
              </a:defRPr>
            </a:pPr>
            <a:r>
              <a:rPr sz="1800" b="0">
                <a:solidFill>
                  <a:srgbClr val="172322"/>
                </a:solidFill>
              </a:rPr>
              <a:t>Source: SAMHSA National Mental Health Directory public data.</a:t>
            </a:r>
          </a:p>
        </p:txBody>
      </p:sp>
      <p:sp>
        <p:nvSpPr>
          <p:cNvPr id="13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9AE502B9-AE75-45C4-87FB-B2D52C40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F792DDC-0CCD-44D1-930A-360E324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611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322"/>
                </a:solidFill>
              </a:defRPr>
            </a:pPr>
            <a:r>
              <a:rPr sz="1800" b="0">
                <a:solidFill>
                  <a:srgbClr val="172322"/>
                </a:solidFill>
              </a:rPr>
              <a:t>Fields cover services, payment options, age groups, settings, and location.</a:t>
            </a:r>
          </a:p>
        </p:txBody>
      </p:sp>
      <p:sp>
        <p:nvSpPr>
          <p:cNvPr id="15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124CEFF7-C107-46B3-981A-6FE27025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A30C719B-C992-47E7-84D3-2B11A483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611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322"/>
                </a:solidFill>
              </a:defRPr>
            </a:pPr>
            <a:r>
              <a:rPr sz="1800" b="0">
                <a:solidFill>
                  <a:srgbClr val="172322"/>
                </a:solidFill>
              </a:rPr>
              <a:t>The GitHub CSV is intentionally small enough to inspect and run locally.</a:t>
            </a:r>
          </a:p>
        </p:txBody>
      </p:sp>
      <p:sp>
        <p:nvSpPr>
          <p:cNvPr id="17" name="screenshot-csv-or-github-data-folder-preview">
            <a:extLst xmlns:a="http://schemas.openxmlformats.org/drawingml/2006/main">
              <a:ext uri="{FF2B5EF4-FFF2-40B4-BE49-F238E27FC236}">
                <a16:creationId xmlns:a16="http://schemas.microsoft.com/office/drawing/2014/main" id="{52405DF4-1748-4333-8F73-FFEAE96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251710"/>
            <a:ext cx="9376410" cy="6823710"/>
          </a:xfrm>
          <a:prstGeom xmlns:a="http://schemas.openxmlformats.org/drawingml/2006/main" prst="roundRect">
            <a:avLst>
              <a:gd name="adj" fmla="val 1117"/>
            </a:avLst>
          </a:prstGeom>
          <a:solidFill xmlns:a="http://schemas.openxmlformats.org/drawingml/2006/main">
            <a:srgbClr val="E8F1ED"/>
          </a:solidFill>
        </p:spPr>
      </p:sp>
      <p:sp>
        <p:nvSpPr>
          <p:cNvPr id="18" name="screenshot-needed-label">
            <a:extLst xmlns:a="http://schemas.openxmlformats.org/drawingml/2006/main">
              <a:ext uri="{FF2B5EF4-FFF2-40B4-BE49-F238E27FC236}">
                <a16:creationId xmlns:a16="http://schemas.microsoft.com/office/drawing/2014/main" id="{128EC33B-04C7-4DE3-8891-82D4335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8724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68A8"/>
                </a:solidFill>
              </a:defRPr>
            </a:pPr>
            <a:r>
              <a:rPr sz="1575" b="1">
                <a:solidFill>
                  <a:srgbClr val="2F68A8"/>
                </a:solidFill>
              </a:rPr>
              <a:t>Screenshot needed</a:t>
            </a:r>
          </a:p>
        </p:txBody>
      </p:sp>
      <p:sp>
        <p:nvSpPr>
          <p:cNvPr id="19" name="screenshot-title">
            <a:extLst xmlns:a="http://schemas.openxmlformats.org/drawingml/2006/main">
              <a:ext uri="{FF2B5EF4-FFF2-40B4-BE49-F238E27FC236}">
                <a16:creationId xmlns:a16="http://schemas.microsoft.com/office/drawing/2014/main" id="{36F0C97F-8FCF-467E-AE2A-7FC2D6B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86400"/>
            <a:ext cx="8724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2"/>
                </a:solidFill>
              </a:defRPr>
            </a:pPr>
            <a:r>
              <a:rPr sz="2325" b="1">
                <a:solidFill>
                  <a:srgbClr val="172322"/>
                </a:solidFill>
              </a:rPr>
              <a:t>CSV or GitHub data folder preview</a:t>
            </a:r>
          </a:p>
        </p:txBody>
      </p:sp>
      <p:sp>
        <p:nvSpPr>
          <p:cNvPr id="20" name="screenshot-detail">
            <a:extLst xmlns:a="http://schemas.openxmlformats.org/drawingml/2006/main">
              <a:ext uri="{FF2B5EF4-FFF2-40B4-BE49-F238E27FC236}">
                <a16:creationId xmlns:a16="http://schemas.microsoft.com/office/drawing/2014/main" id="{09086317-E38E-47DC-9923-84594562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0075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5F"/>
                </a:solidFill>
              </a:defRPr>
            </a:pPr>
            <a:r>
              <a:rPr sz="1650" b="0">
                <a:solidFill>
                  <a:srgbClr val="53625F"/>
                </a:solidFill>
              </a:rPr>
              <a:t>Show docs/data path or the first rows of data/processed/final_nj_facility_sample.csv.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E17CEDC-3638-4427-933D-4186F97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AI Campus | Team 3 | May 2026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D74118-AE8F-4453-B362-3010C9CD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276498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4F72493-66DC-4933-8ED2-09FF791F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METHODOLOGY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157C9D-12E5-41D1-9E07-286B47E5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72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The model work is presented as transparent facility tiering plus deterministic navigation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9F1A08-81E3-4E29-B4A0-E9329CC3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171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Exploratory notebooks tested similarity and ranking ideas; the final app favors explainable filters and displayed tier labels.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6AF21F9-0121-4FDC-A052-F3131BA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624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524F"/>
          </a:solidFill>
        </p:spPr>
      </p:sp>
      <p:sp>
        <p:nvSpPr>
          <p:cNvPr id="5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DD7A6FBE-CD0B-420B-B8A5-6B39E58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tep-title">
            <a:extLst xmlns:a="http://schemas.openxmlformats.org/drawingml/2006/main">
              <a:ext uri="{FF2B5EF4-FFF2-40B4-BE49-F238E27FC236}">
                <a16:creationId xmlns:a16="http://schemas.microsoft.com/office/drawing/2014/main" id="{A641E562-2AD8-4139-B119-B76B151A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779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Clean and decode</a:t>
            </a:r>
          </a:p>
        </p:txBody>
      </p:sp>
      <p:sp>
        <p:nvSpPr>
          <p:cNvPr id="7" name="step-body">
            <a:extLst xmlns:a="http://schemas.openxmlformats.org/drawingml/2006/main">
              <a:ext uri="{FF2B5EF4-FFF2-40B4-BE49-F238E27FC236}">
                <a16:creationId xmlns:a16="http://schemas.microsoft.com/office/drawing/2014/main" id="{A10EAB7E-EF2D-4056-B429-39AEE59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779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Convert public directory fields into readable service, payment, age, and setting columns.</a:t>
            </a:r>
          </a:p>
        </p:txBody>
      </p:sp>
      <p:sp>
        <p:nvSpPr>
          <p:cNvPr id="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6502657-4F89-45DC-9303-0EBE2FF3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9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0A6C5C5A-E3D1-414A-AAA9-CDDB1D76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tep-title">
            <a:extLst xmlns:a="http://schemas.openxmlformats.org/drawingml/2006/main">
              <a:ext uri="{FF2B5EF4-FFF2-40B4-BE49-F238E27FC236}">
                <a16:creationId xmlns:a16="http://schemas.microsoft.com/office/drawing/2014/main" id="{F6DE60C3-3438-4101-95A8-826C9E8D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779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Extract New Jersey facilities</a:t>
            </a:r>
          </a:p>
        </p:txBody>
      </p:sp>
      <p:sp>
        <p:nvSpPr>
          <p:cNvPr id="11" name="step-body">
            <a:extLst xmlns:a="http://schemas.openxmlformats.org/drawingml/2006/main">
              <a:ext uri="{FF2B5EF4-FFF2-40B4-BE49-F238E27FC236}">
                <a16:creationId xmlns:a16="http://schemas.microsoft.com/office/drawing/2014/main" id="{0467E8BD-F139-46D0-B885-33E3946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72100"/>
            <a:ext cx="779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Keep a compact, GitHub-friendly dataset for review and repeatable runs.</a:t>
            </a:r>
          </a:p>
        </p:txBody>
      </p:sp>
      <p:sp>
        <p:nvSpPr>
          <p:cNvPr id="1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0EDF180-3E28-4699-867F-7DBEFA19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406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3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D1E57927-1CC8-4763-95F8-F3820A72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tep-title">
            <a:extLst xmlns:a="http://schemas.openxmlformats.org/drawingml/2006/main">
              <a:ext uri="{FF2B5EF4-FFF2-40B4-BE49-F238E27FC236}">
                <a16:creationId xmlns:a16="http://schemas.microsoft.com/office/drawing/2014/main" id="{B997D944-4A00-49E2-8C73-3ED1249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779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Assign facility tiers</a:t>
            </a:r>
          </a:p>
        </p:txBody>
      </p:sp>
      <p:sp>
        <p:nvSpPr>
          <p:cNvPr id="15" name="step-body">
            <a:extLst xmlns:a="http://schemas.openxmlformats.org/drawingml/2006/main">
              <a:ext uri="{FF2B5EF4-FFF2-40B4-BE49-F238E27FC236}">
                <a16:creationId xmlns:a16="http://schemas.microsoft.com/office/drawing/2014/main" id="{70EAB21C-BFB0-4C31-98D3-B990A5CC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172200"/>
            <a:ext cx="779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Use the notebook workflow to label facilities by broad service-pattern groupings.</a:t>
            </a:r>
          </a:p>
        </p:txBody>
      </p:sp>
      <p:sp>
        <p:nvSpPr>
          <p:cNvPr id="16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04A673F-7B4B-493E-B7EA-AE22046A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797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7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E0A77A3A-DD50-44E5-9EBF-53738C9E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0560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step-title">
            <a:extLst xmlns:a="http://schemas.openxmlformats.org/drawingml/2006/main">
              <a:ext uri="{FF2B5EF4-FFF2-40B4-BE49-F238E27FC236}">
                <a16:creationId xmlns:a16="http://schemas.microsoft.com/office/drawing/2014/main" id="{46D444CF-F893-4909-92A4-4D8CCEC2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10350"/>
            <a:ext cx="779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Navigate with guardrails</a:t>
            </a:r>
          </a:p>
        </p:txBody>
      </p:sp>
      <p:sp>
        <p:nvSpPr>
          <p:cNvPr id="19" name="step-body">
            <a:extLst xmlns:a="http://schemas.openxmlformats.org/drawingml/2006/main">
              <a:ext uri="{FF2B5EF4-FFF2-40B4-BE49-F238E27FC236}">
                <a16:creationId xmlns:a16="http://schemas.microsoft.com/office/drawing/2014/main" id="{38223D0A-7CA0-4AB5-9DBD-2AFF1362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991350"/>
            <a:ext cx="779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Use deterministic filters and text matching in the Streamlit app; users verify all results.</a:t>
            </a:r>
          </a:p>
        </p:txBody>
      </p:sp>
      <p:sp>
        <p:nvSpPr>
          <p:cNvPr id="20" name="method-callout">
            <a:extLst xmlns:a="http://schemas.openxmlformats.org/drawingml/2006/main">
              <a:ext uri="{FF2B5EF4-FFF2-40B4-BE49-F238E27FC236}">
                <a16:creationId xmlns:a16="http://schemas.microsoft.com/office/drawing/2014/main" id="{7200C7E1-F052-4C89-91E8-AF170446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218" y="2343150"/>
            <a:ext cx="7727633" cy="673227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method-callout-title">
            <a:extLst xmlns:a="http://schemas.openxmlformats.org/drawingml/2006/main">
              <a:ext uri="{FF2B5EF4-FFF2-40B4-BE49-F238E27FC236}">
                <a16:creationId xmlns:a16="http://schemas.microsoft.com/office/drawing/2014/main" id="{85C07114-5159-4068-9ECF-AB05AE7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72000"/>
            <a:ext cx="7086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532A"/>
                </a:solidFill>
              </a:defRPr>
            </a:pPr>
            <a:r>
              <a:rPr sz="2325" b="1">
                <a:solidFill>
                  <a:srgbClr val="B4532A"/>
                </a:solidFill>
              </a:rPr>
              <a:t>Important clarification</a:t>
            </a:r>
          </a:p>
        </p:txBody>
      </p:sp>
      <p:sp>
        <p:nvSpPr>
          <p:cNvPr id="22" name="method-callout-body">
            <a:extLst xmlns:a="http://schemas.openxmlformats.org/drawingml/2006/main">
              <a:ext uri="{FF2B5EF4-FFF2-40B4-BE49-F238E27FC236}">
                <a16:creationId xmlns:a16="http://schemas.microsoft.com/office/drawing/2014/main" id="{60206742-761D-44D6-9EEE-9783B137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24450"/>
            <a:ext cx="70866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322"/>
                </a:solidFill>
              </a:defRPr>
            </a:pPr>
            <a:r>
              <a:rPr sz="2175" b="0">
                <a:solidFill>
                  <a:srgbClr val="172322"/>
                </a:solidFill>
              </a:rPr>
              <a:t>The final app does not rerun KNN, K-Means, or embeddings at runtime. It displays the prepared tier labels and ranks matching records with transparent rules.</a:t>
            </a:r>
          </a:p>
        </p:txBody>
      </p:sp>
      <p:sp>
        <p:nvSpPr>
          <p:cNvPr id="23" name="method-callout-note">
            <a:extLst xmlns:a="http://schemas.openxmlformats.org/drawingml/2006/main">
              <a:ext uri="{FF2B5EF4-FFF2-40B4-BE49-F238E27FC236}">
                <a16:creationId xmlns:a16="http://schemas.microsoft.com/office/drawing/2014/main" id="{CDB005BE-378A-4493-A04F-0EA378F2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324600"/>
            <a:ext cx="7086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25F"/>
                </a:solidFill>
              </a:defRPr>
            </a:pPr>
            <a:r>
              <a:rPr sz="1725" b="0">
                <a:solidFill>
                  <a:srgbClr val="53625F"/>
                </a:solidFill>
              </a:rPr>
              <a:t>This keeps the demo reproducible and avoids overstating what the prototype can decide.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1FA741-02B1-4365-93C7-894A0FD1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AI Campus | Team 3 | May 2026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32C76E-CEF8-4887-9550-161AF438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1763905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872469B-60D0-4876-AAFC-5E1A283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14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FACILITY TIERING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219DDB-1C01-4C22-933A-94104B5D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The prepared dataset groups 213 facilities into five readable service-pattern tiers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ACBEA4-D0E9-4B2D-959B-825A60E5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These labels support browsing and comparison; they are not quality ratings or clinical recommendations.</a:t>
            </a:r>
          </a:p>
        </p:txBody>
      </p:sp>
      <p:sp>
        <p:nvSpPr>
          <p:cNvPr id="4" name="tier-bars">
            <a:extLst xmlns:a="http://schemas.openxmlformats.org/drawingml/2006/main">
              <a:ext uri="{FF2B5EF4-FFF2-40B4-BE49-F238E27FC236}">
                <a16:creationId xmlns:a16="http://schemas.microsoft.com/office/drawing/2014/main" id="{0F963F3E-E54C-4F92-A38E-245DD6EF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1710"/>
            <a:ext cx="11836241" cy="6823710"/>
          </a:xfrm>
          <a:prstGeom xmlns:a="http://schemas.openxmlformats.org/drawingml/2006/main" prst="roundRect">
            <a:avLst>
              <a:gd name="adj" fmla="val 111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ier-label">
            <a:extLst xmlns:a="http://schemas.openxmlformats.org/drawingml/2006/main">
              <a:ext uri="{FF2B5EF4-FFF2-40B4-BE49-F238E27FC236}">
                <a16:creationId xmlns:a16="http://schemas.microsoft.com/office/drawing/2014/main" id="{68BD0A0C-0F5E-4CDE-9F40-819D0799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322"/>
                </a:solidFill>
              </a:defRPr>
            </a:pPr>
            <a:r>
              <a:rPr sz="1725" b="0">
                <a:solidFill>
                  <a:srgbClr val="172322"/>
                </a:solidFill>
              </a:rPr>
              <a:t>Essential Support Services</a:t>
            </a:r>
          </a:p>
        </p:txBody>
      </p:sp>
      <p:sp>
        <p:nvSpPr>
          <p:cNvPr id="6" name="tier-bar">
            <a:extLst xmlns:a="http://schemas.openxmlformats.org/drawingml/2006/main">
              <a:ext uri="{FF2B5EF4-FFF2-40B4-BE49-F238E27FC236}">
                <a16:creationId xmlns:a16="http://schemas.microsoft.com/office/drawing/2014/main" id="{AF1CD851-54DA-49DC-8C17-71435A7A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38600"/>
            <a:ext cx="5715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524F"/>
          </a:solidFill>
        </p:spPr>
      </p:sp>
      <p:sp>
        <p:nvSpPr>
          <p:cNvPr id="7" name="tier-value">
            <a:extLst xmlns:a="http://schemas.openxmlformats.org/drawingml/2006/main">
              <a:ext uri="{FF2B5EF4-FFF2-40B4-BE49-F238E27FC236}">
                <a16:creationId xmlns:a16="http://schemas.microsoft.com/office/drawing/2014/main" id="{9C74276C-928F-4712-8807-6914808D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01955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322"/>
                </a:solidFill>
              </a:defRPr>
            </a:pPr>
            <a:r>
              <a:rPr sz="1950" b="1">
                <a:solidFill>
                  <a:srgbClr val="172322"/>
                </a:solidFill>
              </a:rPr>
              <a:t>69</a:t>
            </a:r>
          </a:p>
        </p:txBody>
      </p:sp>
      <p:sp>
        <p:nvSpPr>
          <p:cNvPr id="8" name="tier-label">
            <a:extLst xmlns:a="http://schemas.openxmlformats.org/drawingml/2006/main">
              <a:ext uri="{FF2B5EF4-FFF2-40B4-BE49-F238E27FC236}">
                <a16:creationId xmlns:a16="http://schemas.microsoft.com/office/drawing/2014/main" id="{67FCD38A-132D-4AC1-93D6-47E40C6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322"/>
                </a:solidFill>
              </a:defRPr>
            </a:pPr>
            <a:r>
              <a:rPr sz="1725" b="0">
                <a:solidFill>
                  <a:srgbClr val="172322"/>
                </a:solidFill>
              </a:rPr>
              <a:t>Structured Clinical &amp; Family Support</a:t>
            </a:r>
          </a:p>
        </p:txBody>
      </p:sp>
      <p:sp>
        <p:nvSpPr>
          <p:cNvPr id="9" name="tier-bar">
            <a:extLst xmlns:a="http://schemas.openxmlformats.org/drawingml/2006/main">
              <a:ext uri="{FF2B5EF4-FFF2-40B4-BE49-F238E27FC236}">
                <a16:creationId xmlns:a16="http://schemas.microsoft.com/office/drawing/2014/main" id="{36128836-E06E-44D5-992F-54180625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46386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10" name="tier-value">
            <a:extLst xmlns:a="http://schemas.openxmlformats.org/drawingml/2006/main">
              <a:ext uri="{FF2B5EF4-FFF2-40B4-BE49-F238E27FC236}">
                <a16:creationId xmlns:a16="http://schemas.microsoft.com/office/drawing/2014/main" id="{811D07B6-2A78-4020-8F50-5B2B53D7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76250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322"/>
                </a:solidFill>
              </a:defRPr>
            </a:pPr>
            <a:r>
              <a:rPr sz="1950" b="1">
                <a:solidFill>
                  <a:srgbClr val="172322"/>
                </a:solidFill>
              </a:rPr>
              <a:t>56</a:t>
            </a:r>
          </a:p>
        </p:txBody>
      </p:sp>
      <p:sp>
        <p:nvSpPr>
          <p:cNvPr id="11" name="tier-label">
            <a:extLst xmlns:a="http://schemas.openxmlformats.org/drawingml/2006/main">
              <a:ext uri="{FF2B5EF4-FFF2-40B4-BE49-F238E27FC236}">
                <a16:creationId xmlns:a16="http://schemas.microsoft.com/office/drawing/2014/main" id="{32477417-EFF9-4116-AA43-C013515F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322"/>
                </a:solidFill>
              </a:defRPr>
            </a:pPr>
            <a:r>
              <a:rPr sz="1725" b="0">
                <a:solidFill>
                  <a:srgbClr val="172322"/>
                </a:solidFill>
              </a:rPr>
              <a:t>Peer &amp; Community-Led Services</a:t>
            </a:r>
          </a:p>
        </p:txBody>
      </p:sp>
      <p:sp>
        <p:nvSpPr>
          <p:cNvPr id="12" name="tier-bar">
            <a:extLst xmlns:a="http://schemas.openxmlformats.org/drawingml/2006/main">
              <a:ext uri="{FF2B5EF4-FFF2-40B4-BE49-F238E27FC236}">
                <a16:creationId xmlns:a16="http://schemas.microsoft.com/office/drawing/2014/main" id="{8B392A33-63DC-47EB-995D-CD81003A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62600"/>
            <a:ext cx="439102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3" name="tier-value">
            <a:extLst xmlns:a="http://schemas.openxmlformats.org/drawingml/2006/main">
              <a:ext uri="{FF2B5EF4-FFF2-40B4-BE49-F238E27FC236}">
                <a16:creationId xmlns:a16="http://schemas.microsoft.com/office/drawing/2014/main" id="{15ABCC9E-F744-41A5-8943-13811AAB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50545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322"/>
                </a:solidFill>
              </a:defRPr>
            </a:pPr>
            <a:r>
              <a:rPr sz="1950" b="1">
                <a:solidFill>
                  <a:srgbClr val="172322"/>
                </a:solidFill>
              </a:rPr>
              <a:t>53</a:t>
            </a:r>
          </a:p>
        </p:txBody>
      </p:sp>
      <p:sp>
        <p:nvSpPr>
          <p:cNvPr id="14" name="tier-label">
            <a:extLst xmlns:a="http://schemas.openxmlformats.org/drawingml/2006/main">
              <a:ext uri="{FF2B5EF4-FFF2-40B4-BE49-F238E27FC236}">
                <a16:creationId xmlns:a16="http://schemas.microsoft.com/office/drawing/2014/main" id="{40F5948A-7221-48AD-82F0-8638E0C3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674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322"/>
                </a:solidFill>
              </a:defRPr>
            </a:pPr>
            <a:r>
              <a:rPr sz="1725" b="0">
                <a:solidFill>
                  <a:srgbClr val="172322"/>
                </a:solidFill>
              </a:rPr>
              <a:t>Specialized Chronic Care</a:t>
            </a:r>
          </a:p>
        </p:txBody>
      </p:sp>
      <p:sp>
        <p:nvSpPr>
          <p:cNvPr id="15" name="tier-bar">
            <a:extLst xmlns:a="http://schemas.openxmlformats.org/drawingml/2006/main">
              <a:ext uri="{FF2B5EF4-FFF2-40B4-BE49-F238E27FC236}">
                <a16:creationId xmlns:a16="http://schemas.microsoft.com/office/drawing/2014/main" id="{5560DE51-C8D7-43A8-9F18-4A59A41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248400"/>
            <a:ext cx="157162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6" name="tier-value">
            <a:extLst xmlns:a="http://schemas.openxmlformats.org/drawingml/2006/main">
              <a:ext uri="{FF2B5EF4-FFF2-40B4-BE49-F238E27FC236}">
                <a16:creationId xmlns:a16="http://schemas.microsoft.com/office/drawing/2014/main" id="{361C13A5-B02F-4CD1-9F1D-F1EBC75C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24840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322"/>
                </a:solidFill>
              </a:defRPr>
            </a:pPr>
            <a:r>
              <a:rPr sz="1950" b="1">
                <a:solidFill>
                  <a:srgbClr val="172322"/>
                </a:solidFill>
              </a:rPr>
              <a:t>19</a:t>
            </a:r>
          </a:p>
        </p:txBody>
      </p:sp>
      <p:sp>
        <p:nvSpPr>
          <p:cNvPr id="17" name="tier-label">
            <a:extLst xmlns:a="http://schemas.openxmlformats.org/drawingml/2006/main">
              <a:ext uri="{FF2B5EF4-FFF2-40B4-BE49-F238E27FC236}">
                <a16:creationId xmlns:a16="http://schemas.microsoft.com/office/drawing/2014/main" id="{104D0B53-EC91-43A7-B992-5FA3D189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104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322"/>
                </a:solidFill>
              </a:defRPr>
            </a:pPr>
            <a:r>
              <a:rPr sz="1725" b="0">
                <a:solidFill>
                  <a:srgbClr val="172322"/>
                </a:solidFill>
              </a:rPr>
              <a:t>Comprehensive Support Hub</a:t>
            </a:r>
          </a:p>
        </p:txBody>
      </p:sp>
      <p:sp>
        <p:nvSpPr>
          <p:cNvPr id="18" name="tier-bar">
            <a:extLst xmlns:a="http://schemas.openxmlformats.org/drawingml/2006/main">
              <a:ext uri="{FF2B5EF4-FFF2-40B4-BE49-F238E27FC236}">
                <a16:creationId xmlns:a16="http://schemas.microsoft.com/office/drawing/2014/main" id="{F589FFCA-06CA-4D63-85C2-C28B2766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7010400"/>
            <a:ext cx="13239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19" name="tier-value">
            <a:extLst xmlns:a="http://schemas.openxmlformats.org/drawingml/2006/main">
              <a:ext uri="{FF2B5EF4-FFF2-40B4-BE49-F238E27FC236}">
                <a16:creationId xmlns:a16="http://schemas.microsoft.com/office/drawing/2014/main" id="{49572F1B-B445-4F77-92D4-EFA6BBC7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99135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322"/>
                </a:solidFill>
              </a:defRPr>
            </a:pPr>
            <a:r>
              <a:rPr sz="1950" b="1">
                <a:solidFill>
                  <a:srgbClr val="172322"/>
                </a:solidFill>
              </a:rPr>
              <a:t>16</a:t>
            </a:r>
          </a:p>
        </p:txBody>
      </p:sp>
      <p:sp>
        <p:nvSpPr>
          <p:cNvPr id="20" name="tier-interpretation">
            <a:extLst xmlns:a="http://schemas.openxmlformats.org/drawingml/2006/main">
              <a:ext uri="{FF2B5EF4-FFF2-40B4-BE49-F238E27FC236}">
                <a16:creationId xmlns:a16="http://schemas.microsoft.com/office/drawing/2014/main" id="{8F5B2D1C-BB67-4018-8948-20FE846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241" y="2251710"/>
            <a:ext cx="4489609" cy="6823710"/>
          </a:xfrm>
          <a:prstGeom xmlns:a="http://schemas.openxmlformats.org/drawingml/2006/main" prst="roundRect">
            <a:avLst>
              <a:gd name="adj" fmla="val 1697"/>
            </a:avLst>
          </a:prstGeom>
          <a:solidFill xmlns:a="http://schemas.openxmlformats.org/drawingml/2006/main">
            <a:srgbClr val="FFF4DE"/>
          </a:solidFill>
        </p:spPr>
      </p:sp>
      <p:sp>
        <p:nvSpPr>
          <p:cNvPr id="21" name="tier-explain-title">
            <a:extLst xmlns:a="http://schemas.openxmlformats.org/drawingml/2006/main">
              <a:ext uri="{FF2B5EF4-FFF2-40B4-BE49-F238E27FC236}">
                <a16:creationId xmlns:a16="http://schemas.microsoft.com/office/drawing/2014/main" id="{BF84CF8D-FDB5-4399-8AD2-C2F5D382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62915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7706"/>
                </a:solidFill>
              </a:defRPr>
            </a:pPr>
            <a:r>
              <a:rPr sz="2175" b="1">
                <a:solidFill>
                  <a:srgbClr val="D97706"/>
                </a:solidFill>
              </a:rPr>
              <a:t>How to explain this slide</a:t>
            </a:r>
          </a:p>
        </p:txBody>
      </p:sp>
      <p:sp>
        <p:nvSpPr>
          <p:cNvPr id="22" name="tier-explain-body">
            <a:extLst xmlns:a="http://schemas.openxmlformats.org/drawingml/2006/main">
              <a:ext uri="{FF2B5EF4-FFF2-40B4-BE49-F238E27FC236}">
                <a16:creationId xmlns:a16="http://schemas.microsoft.com/office/drawing/2014/main" id="{75E218C9-55CF-4B19-92B1-8E180EBF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124450"/>
            <a:ext cx="39243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322"/>
                </a:solidFill>
              </a:defRPr>
            </a:pPr>
            <a:r>
              <a:rPr sz="1950" b="0">
                <a:solidFill>
                  <a:srgbClr val="172322"/>
                </a:solidFill>
              </a:rPr>
              <a:t>The tiers make a large public directory more scanable by grouping facilities with similar service patterns.</a:t>
            </a:r>
          </a:p>
        </p:txBody>
      </p:sp>
      <p:sp>
        <p:nvSpPr>
          <p:cNvPr id="23" name="tier-explain-note">
            <a:extLst xmlns:a="http://schemas.openxmlformats.org/drawingml/2006/main">
              <a:ext uri="{FF2B5EF4-FFF2-40B4-BE49-F238E27FC236}">
                <a16:creationId xmlns:a16="http://schemas.microsoft.com/office/drawing/2014/main" id="{B31E3779-55E2-4FE3-BA1F-D0C2A654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19125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5F"/>
                </a:solidFill>
              </a:defRPr>
            </a:pPr>
            <a:r>
              <a:rPr sz="1650" b="0">
                <a:solidFill>
                  <a:srgbClr val="53625F"/>
                </a:solidFill>
              </a:rPr>
              <a:t>The counts show distribution only. They do not imply better or worse care.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FFFF31E-3469-4255-913C-1FE9A003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2975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Source: final_nj_facility_sample.csv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7454881-201E-4E5D-A9D5-8168CC2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1764189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3D2B484-CC9B-4502-BCBE-65AA8AAE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80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PROTOTYPE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0C1EBB-D005-4548-877A-CA0CDB2F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72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The Streamlit app turns the prepared data into a simple navigation workflow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8BF99B-FACA-4EA3-B0C9-B718A49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210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For the final demo, screenshots are enough: show the filters, result cards, and explanation/boundary text.</a:t>
            </a:r>
          </a:p>
        </p:txBody>
      </p:sp>
      <p:sp>
        <p:nvSpPr>
          <p:cNvPr id="4" name="screenshot-streamlit-app-with-filters-and-result-cards">
            <a:extLst xmlns:a="http://schemas.openxmlformats.org/drawingml/2006/main">
              <a:ext uri="{FF2B5EF4-FFF2-40B4-BE49-F238E27FC236}">
                <a16:creationId xmlns:a16="http://schemas.microsoft.com/office/drawing/2014/main" id="{3B5F4CF3-B973-48B1-A239-44D9F174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9784080" cy="673227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AF2FB"/>
          </a:solidFill>
        </p:spPr>
      </p:sp>
      <p:sp>
        <p:nvSpPr>
          <p:cNvPr id="5" name="screenshot-needed-label">
            <a:extLst xmlns:a="http://schemas.openxmlformats.org/drawingml/2006/main">
              <a:ext uri="{FF2B5EF4-FFF2-40B4-BE49-F238E27FC236}">
                <a16:creationId xmlns:a16="http://schemas.microsoft.com/office/drawing/2014/main" id="{55D875D6-D0B8-479E-97DB-10AB7D86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914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68A8"/>
                </a:solidFill>
              </a:defRPr>
            </a:pPr>
            <a:r>
              <a:rPr sz="1575" b="1">
                <a:solidFill>
                  <a:srgbClr val="2F68A8"/>
                </a:solidFill>
              </a:rPr>
              <a:t>Screenshot needed</a:t>
            </a:r>
          </a:p>
        </p:txBody>
      </p:sp>
      <p:sp>
        <p:nvSpPr>
          <p:cNvPr id="6" name="screenshot-title">
            <a:extLst xmlns:a="http://schemas.openxmlformats.org/drawingml/2006/main">
              <a:ext uri="{FF2B5EF4-FFF2-40B4-BE49-F238E27FC236}">
                <a16:creationId xmlns:a16="http://schemas.microsoft.com/office/drawing/2014/main" id="{D62C2D7F-9DAE-4E36-B5F8-0E73447E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2"/>
                </a:solidFill>
              </a:defRPr>
            </a:pPr>
            <a:r>
              <a:rPr sz="2325" b="1">
                <a:solidFill>
                  <a:srgbClr val="172322"/>
                </a:solidFill>
              </a:rPr>
              <a:t>Streamlit app with filters and result cards</a:t>
            </a:r>
          </a:p>
        </p:txBody>
      </p:sp>
      <p:sp>
        <p:nvSpPr>
          <p:cNvPr id="7" name="screenshot-detail">
            <a:extLst xmlns:a="http://schemas.openxmlformats.org/drawingml/2006/main">
              <a:ext uri="{FF2B5EF4-FFF2-40B4-BE49-F238E27FC236}">
                <a16:creationId xmlns:a16="http://schemas.microsoft.com/office/drawing/2014/main" id="{D6D383D2-49D2-4C98-95C2-058BC454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57900"/>
            <a:ext cx="914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5F"/>
                </a:solidFill>
              </a:defRPr>
            </a:pPr>
            <a:r>
              <a:rPr sz="1650" b="0">
                <a:solidFill>
                  <a:srgbClr val="53625F"/>
                </a:solidFill>
              </a:rPr>
              <a:t>Run: streamlit run app/streamlit_app.py. Capture the left filters and several facility cards.</a:t>
            </a:r>
          </a:p>
        </p:txBody>
      </p:sp>
      <p:sp>
        <p:nvSpPr>
          <p:cNvPr id="8" name="prototype-notes">
            <a:extLst xmlns:a="http://schemas.openxmlformats.org/drawingml/2006/main">
              <a:ext uri="{FF2B5EF4-FFF2-40B4-BE49-F238E27FC236}">
                <a16:creationId xmlns:a16="http://schemas.microsoft.com/office/drawing/2014/main" id="{169559AE-F0D9-46B6-B1D4-81410FBB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30" y="2343150"/>
            <a:ext cx="6522720" cy="6732270"/>
          </a:xfrm>
          <a:prstGeom xmlns:a="http://schemas.openxmlformats.org/drawingml/2006/main" prst="roundRect">
            <a:avLst>
              <a:gd name="adj" fmla="val 116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prototype-notes-title">
            <a:extLst xmlns:a="http://schemas.openxmlformats.org/drawingml/2006/main">
              <a:ext uri="{FF2B5EF4-FFF2-40B4-BE49-F238E27FC236}">
                <a16:creationId xmlns:a16="http://schemas.microsoft.com/office/drawing/2014/main" id="{29E080A5-0B24-4F4A-AF8C-F95D1E18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648200"/>
            <a:ext cx="590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68A8"/>
                </a:solidFill>
              </a:defRPr>
            </a:pPr>
            <a:r>
              <a:rPr sz="2325" b="1">
                <a:solidFill>
                  <a:srgbClr val="2F68A8"/>
                </a:solidFill>
              </a:rPr>
              <a:t>What to point out</a:t>
            </a:r>
          </a:p>
        </p:txBody>
      </p:sp>
      <p:sp>
        <p:nvSpPr>
          <p:cNvPr id="10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55AA02E9-6CD6-457A-838E-00751D5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2197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1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6EE7F4C-931D-4C28-AD9C-AC7F28B8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219700"/>
            <a:ext cx="5676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322"/>
                </a:solidFill>
              </a:defRPr>
            </a:pPr>
            <a:r>
              <a:rPr sz="1800" b="0">
                <a:solidFill>
                  <a:srgbClr val="172322"/>
                </a:solidFill>
              </a:rPr>
              <a:t>Search by care need, payment, setting, city, or tier.</a:t>
            </a:r>
          </a:p>
        </p:txBody>
      </p:sp>
      <p:sp>
        <p:nvSpPr>
          <p:cNvPr id="12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AAC98AC7-FAB7-4B4B-958E-8C5BA28A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6578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1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17B041C-8DFC-468E-8C2F-2953A2B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657850"/>
            <a:ext cx="5676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322"/>
                </a:solidFill>
              </a:defRPr>
            </a:pPr>
            <a:r>
              <a:rPr sz="1800" b="0">
                <a:solidFill>
                  <a:srgbClr val="172322"/>
                </a:solidFill>
              </a:rPr>
              <a:t>Cards show source fields and confidence cues.</a:t>
            </a:r>
          </a:p>
        </p:txBody>
      </p:sp>
      <p:sp>
        <p:nvSpPr>
          <p:cNvPr id="14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DE7F06C7-52FC-4B66-A46A-547BC1E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0769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1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26EC3D3-8698-4B3D-8B9A-20DE5B9C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076950"/>
            <a:ext cx="5676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322"/>
                </a:solidFill>
              </a:defRPr>
            </a:pPr>
            <a:r>
              <a:rPr sz="1800" b="0">
                <a:solidFill>
                  <a:srgbClr val="172322"/>
                </a:solidFill>
              </a:rPr>
              <a:t>No API key is required for the reviewer path.</a:t>
            </a:r>
          </a:p>
        </p:txBody>
      </p:sp>
      <p:sp>
        <p:nvSpPr>
          <p:cNvPr id="16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0F6816F1-58D3-4DCA-892F-23C0ECB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17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C3C2973C-E7F2-4DFB-B179-B7BF8E39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96050"/>
            <a:ext cx="5676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322"/>
                </a:solidFill>
              </a:defRPr>
            </a:pPr>
            <a:r>
              <a:rPr sz="1800" b="0">
                <a:solidFill>
                  <a:srgbClr val="172322"/>
                </a:solidFill>
              </a:rPr>
              <a:t>The app encourages verification before action.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0DC748A-AFDE-4A12-8724-DAF580A0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AI Campus | Team 3 | May 2026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BFE9650-9E33-466B-BA17-5288217C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2140324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D50BC91B-03B4-4EAC-9B2A-315A22FE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200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RESPONSIBLE 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040109-D059-4029-9037-6CC0F9D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The project is useful because it is careful about what it does not claim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3F72A7-F406-4510-A714-2CBD0F74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7658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This language should stay visible in the report, README, app, and presentation.</a:t>
            </a:r>
          </a:p>
        </p:txBody>
      </p:sp>
      <p:sp>
        <p:nvSpPr>
          <p:cNvPr id="4" name="does-box">
            <a:extLst xmlns:a="http://schemas.openxmlformats.org/drawingml/2006/main">
              <a:ext uri="{FF2B5EF4-FFF2-40B4-BE49-F238E27FC236}">
                <a16:creationId xmlns:a16="http://schemas.microsoft.com/office/drawing/2014/main" id="{B9B5FE93-C91A-4021-810F-F9D0742A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7460"/>
            <a:ext cx="8162925" cy="6537960"/>
          </a:xfrm>
          <a:prstGeom xmlns:a="http://schemas.openxmlformats.org/drawingml/2006/main" prst="roundRect">
            <a:avLst>
              <a:gd name="adj" fmla="val 1166"/>
            </a:avLst>
          </a:prstGeom>
          <a:solidFill xmlns:a="http://schemas.openxmlformats.org/drawingml/2006/main">
            <a:srgbClr val="E8F1ED"/>
          </a:solidFill>
        </p:spPr>
      </p:sp>
      <p:sp>
        <p:nvSpPr>
          <p:cNvPr id="5" name="does-title">
            <a:extLst xmlns:a="http://schemas.openxmlformats.org/drawingml/2006/main">
              <a:ext uri="{FF2B5EF4-FFF2-40B4-BE49-F238E27FC236}">
                <a16:creationId xmlns:a16="http://schemas.microsoft.com/office/drawing/2014/main" id="{36CB1C27-5BE4-4C64-A19A-A1C2CC23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752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F855A"/>
                </a:solidFill>
              </a:defRPr>
            </a:pPr>
            <a:r>
              <a:rPr sz="2400" b="1">
                <a:solidFill>
                  <a:srgbClr val="2F855A"/>
                </a:solidFill>
              </a:rPr>
              <a:t>What the navigator can do</a:t>
            </a:r>
          </a:p>
        </p:txBody>
      </p:sp>
      <p:sp>
        <p:nvSpPr>
          <p:cNvPr id="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157171B2-B065-4009-97ED-BCC0F69E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531E339-31C3-48DE-B159-986D0B94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Make public facility records easier to search.</a:t>
            </a:r>
          </a:p>
        </p:txBody>
      </p:sp>
      <p:sp>
        <p:nvSpPr>
          <p:cNvPr id="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8C3F80A6-B76E-441A-BDEC-F489F31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AE9BDDF-6137-44F5-A579-FA0649EC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Surface likely relevant records for a user query.</a:t>
            </a:r>
          </a:p>
        </p:txBody>
      </p:sp>
      <p:sp>
        <p:nvSpPr>
          <p:cNvPr id="1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C2E006CC-9BB3-4199-8E77-6EEF0D1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13FEF20-E101-49F3-A0F9-11CD620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Organize facilities into transparent broad tiers.</a:t>
            </a:r>
          </a:p>
        </p:txBody>
      </p:sp>
      <p:sp>
        <p:nvSpPr>
          <p:cNvPr id="1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7ABA949E-CAC1-48B8-90C1-31B12614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84683D38-1B3A-408B-BBD1-17E90387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Document the source and boundaries of each result.</a:t>
            </a:r>
          </a:p>
        </p:txBody>
      </p:sp>
      <p:sp>
        <p:nvSpPr>
          <p:cNvPr id="14" name="does-not-box">
            <a:extLst xmlns:a="http://schemas.openxmlformats.org/drawingml/2006/main">
              <a:ext uri="{FF2B5EF4-FFF2-40B4-BE49-F238E27FC236}">
                <a16:creationId xmlns:a16="http://schemas.microsoft.com/office/drawing/2014/main" id="{2562D5BC-A244-477D-A080-49910C9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37460"/>
            <a:ext cx="8162925" cy="6537960"/>
          </a:xfrm>
          <a:prstGeom xmlns:a="http://schemas.openxmlformats.org/drawingml/2006/main" prst="roundRect">
            <a:avLst>
              <a:gd name="adj" fmla="val 1166"/>
            </a:avLst>
          </a:prstGeom>
          <a:solidFill xmlns:a="http://schemas.openxmlformats.org/drawingml/2006/main">
            <a:srgbClr val="FDEFEA"/>
          </a:solidFill>
        </p:spPr>
      </p:sp>
      <p:sp>
        <p:nvSpPr>
          <p:cNvPr id="15" name="does-not-title">
            <a:extLst xmlns:a="http://schemas.openxmlformats.org/drawingml/2006/main">
              <a:ext uri="{FF2B5EF4-FFF2-40B4-BE49-F238E27FC236}">
                <a16:creationId xmlns:a16="http://schemas.microsoft.com/office/drawing/2014/main" id="{D70C21D3-0E91-421E-A139-EDF4A21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752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532A"/>
                </a:solidFill>
              </a:defRPr>
            </a:pPr>
            <a:r>
              <a:rPr sz="2400" b="1">
                <a:solidFill>
                  <a:srgbClr val="B4532A"/>
                </a:solidFill>
              </a:rPr>
              <a:t>What it cannot do</a:t>
            </a:r>
          </a:p>
        </p:txBody>
      </p:sp>
      <p:sp>
        <p:nvSpPr>
          <p:cNvPr id="1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E515E9C0-91B4-4686-B85A-665A8E20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99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7A6ED07-4FE9-4AA7-A6B8-A882DCE9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099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Confirm openings, wait times, or current service status.</a:t>
            </a:r>
          </a:p>
        </p:txBody>
      </p:sp>
      <p:sp>
        <p:nvSpPr>
          <p:cNvPr id="1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C4423284-B38C-4DBC-BAB8-F887B2A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481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166FA90-5429-4999-980F-60B6319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4810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Guarantee insurance acceptance or clinical appropriateness.</a:t>
            </a:r>
          </a:p>
        </p:txBody>
      </p:sp>
      <p:sp>
        <p:nvSpPr>
          <p:cNvPr id="2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699178CF-E380-4F6C-93C6-9FB3372D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862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2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939840B-DA95-4A4D-9EB6-43AA540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862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Rank facilities by quality or outcome.</a:t>
            </a:r>
          </a:p>
        </p:txBody>
      </p:sp>
      <p:sp>
        <p:nvSpPr>
          <p:cNvPr id="2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770C8C6D-9B02-4775-AB71-5A0C9897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244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2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FF175270-0DAF-4717-A23C-4A90373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72440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322"/>
                </a:solidFill>
              </a:defRPr>
            </a:pPr>
            <a:r>
              <a:rPr sz="1875" b="0">
                <a:solidFill>
                  <a:srgbClr val="172322"/>
                </a:solidFill>
              </a:rPr>
              <a:t>Replace professional judgment or direct facility contact.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56600C-B8E9-4971-A8E4-895B68B5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AI Campus | Team 3 | May 2026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E783799-18F3-45D4-A709-637EA0F0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916810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80CF323-5869-49A2-B105-006E7A87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2438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524F"/>
                </a:solidFill>
              </a:defRPr>
            </a:pPr>
            <a:r>
              <a:rPr sz="1275" b="1">
                <a:solidFill>
                  <a:srgbClr val="14524F"/>
                </a:solidFill>
              </a:rPr>
              <a:t>RECOMMENDED FINAL DEMO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8782B3-86F9-47CC-81E6-AC21C23E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1664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2"/>
                </a:solidFill>
              </a:defRPr>
            </a:pPr>
            <a:r>
              <a:rPr sz="3600" b="1">
                <a:solidFill>
                  <a:srgbClr val="172322"/>
                </a:solidFill>
              </a:rPr>
              <a:t>Use the slides as the formal presentation and keep GitHub ready as the evidence base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172A33-515F-469A-89B2-B9A25C82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2592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5F"/>
                </a:solidFill>
              </a:defRPr>
            </a:pPr>
            <a:r>
              <a:rPr sz="1875" b="0">
                <a:solidFill>
                  <a:srgbClr val="53625F"/>
                </a:solidFill>
              </a:rPr>
              <a:t>A brief methodology is enough. The strongest story is: problem, data, tiering, prototype screenshot, responsible use, final artifacts.</a:t>
            </a:r>
          </a:p>
        </p:txBody>
      </p:sp>
      <p:sp>
        <p:nvSpPr>
          <p:cNvPr id="4" name="demo-flow">
            <a:extLst xmlns:a="http://schemas.openxmlformats.org/drawingml/2006/main">
              <a:ext uri="{FF2B5EF4-FFF2-40B4-BE49-F238E27FC236}">
                <a16:creationId xmlns:a16="http://schemas.microsoft.com/office/drawing/2014/main" id="{0A9E1CE4-C9C3-4DF1-A1D7-CE39BA7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7460"/>
            <a:ext cx="7745730" cy="6537960"/>
          </a:xfrm>
          <a:prstGeom xmlns:a="http://schemas.openxmlformats.org/drawingml/2006/main" prst="roundRect">
            <a:avLst>
              <a:gd name="adj" fmla="val 116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A069677-6503-4F7C-96A5-378DA51E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197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524F"/>
          </a:solidFill>
        </p:spPr>
      </p:sp>
      <p:sp>
        <p:nvSpPr>
          <p:cNvPr id="6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B4B29D7F-0403-42F0-BA8A-9590F422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itle">
            <a:extLst xmlns:a="http://schemas.openxmlformats.org/drawingml/2006/main">
              <a:ext uri="{FF2B5EF4-FFF2-40B4-BE49-F238E27FC236}">
                <a16:creationId xmlns:a16="http://schemas.microsoft.com/office/drawing/2014/main" id="{6A03E764-6A58-4932-A69C-1E4638D4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24350"/>
            <a:ext cx="636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Open with the problem</a:t>
            </a:r>
          </a:p>
        </p:txBody>
      </p:sp>
      <p:sp>
        <p:nvSpPr>
          <p:cNvPr id="8" name="step-body">
            <a:extLst xmlns:a="http://schemas.openxmlformats.org/drawingml/2006/main">
              <a:ext uri="{FF2B5EF4-FFF2-40B4-BE49-F238E27FC236}">
                <a16:creationId xmlns:a16="http://schemas.microsoft.com/office/drawing/2014/main" id="{816D8036-A016-4E22-9A67-062F0339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05350"/>
            <a:ext cx="636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Why navigation is hard and why the project keeps humans in the loop.</a:t>
            </a:r>
          </a:p>
        </p:txBody>
      </p:sp>
      <p:sp>
        <p:nvSpPr>
          <p:cNvPr id="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516F928-38C7-4FC7-9E5B-2F701D54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683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F68A8"/>
          </a:solidFill>
        </p:spPr>
      </p:sp>
      <p:sp>
        <p:nvSpPr>
          <p:cNvPr id="10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8AB30EBE-1C2F-4146-BB5C-B5212969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itle">
            <a:extLst xmlns:a="http://schemas.openxmlformats.org/drawingml/2006/main">
              <a:ext uri="{FF2B5EF4-FFF2-40B4-BE49-F238E27FC236}">
                <a16:creationId xmlns:a16="http://schemas.microsoft.com/office/drawing/2014/main" id="{53BBA139-CDF9-4385-83C1-E09A5D0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24450"/>
            <a:ext cx="636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Show the evidence</a:t>
            </a:r>
          </a:p>
        </p:txBody>
      </p:sp>
      <p:sp>
        <p:nvSpPr>
          <p:cNvPr id="12" name="step-body">
            <a:extLst xmlns:a="http://schemas.openxmlformats.org/drawingml/2006/main">
              <a:ext uri="{FF2B5EF4-FFF2-40B4-BE49-F238E27FC236}">
                <a16:creationId xmlns:a16="http://schemas.microsoft.com/office/drawing/2014/main" id="{72D71CF1-E02D-4844-82B3-19114797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86400"/>
            <a:ext cx="636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Data extract, notebooks, tier counts, and report.</a:t>
            </a:r>
          </a:p>
        </p:txBody>
      </p:sp>
      <p:sp>
        <p:nvSpPr>
          <p:cNvPr id="1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B189AC9-EED4-47E7-A3C7-0781F52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169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14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3B74AE5E-5DF0-4F43-90A2-E458F5B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itle">
            <a:extLst xmlns:a="http://schemas.openxmlformats.org/drawingml/2006/main">
              <a:ext uri="{FF2B5EF4-FFF2-40B4-BE49-F238E27FC236}">
                <a16:creationId xmlns:a16="http://schemas.microsoft.com/office/drawing/2014/main" id="{15E627FC-9A89-4BD1-887B-925AB76F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05500"/>
            <a:ext cx="636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Show the product</a:t>
            </a:r>
          </a:p>
        </p:txBody>
      </p:sp>
      <p:sp>
        <p:nvSpPr>
          <p:cNvPr id="16" name="step-body">
            <a:extLst xmlns:a="http://schemas.openxmlformats.org/drawingml/2006/main">
              <a:ext uri="{FF2B5EF4-FFF2-40B4-BE49-F238E27FC236}">
                <a16:creationId xmlns:a16="http://schemas.microsoft.com/office/drawing/2014/main" id="{C511319D-C210-4116-96E1-E477465A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267450"/>
            <a:ext cx="636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Use screenshots of the Streamlit flow instead of walking through code.</a:t>
            </a:r>
          </a:p>
        </p:txBody>
      </p:sp>
      <p:sp>
        <p:nvSpPr>
          <p:cNvPr id="17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CFE95CA-F60C-4E3F-87E9-94C304A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532A"/>
          </a:solidFill>
        </p:spPr>
      </p:sp>
      <p:sp>
        <p:nvSpPr>
          <p:cNvPr id="18" name="step-number-text">
            <a:extLst xmlns:a="http://schemas.openxmlformats.org/drawingml/2006/main">
              <a:ext uri="{FF2B5EF4-FFF2-40B4-BE49-F238E27FC236}">
                <a16:creationId xmlns:a16="http://schemas.microsoft.com/office/drawing/2014/main" id="{091AEEAB-F2D2-4541-8CA2-3A69B8B5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8180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itle">
            <a:extLst xmlns:a="http://schemas.openxmlformats.org/drawingml/2006/main">
              <a:ext uri="{FF2B5EF4-FFF2-40B4-BE49-F238E27FC236}">
                <a16:creationId xmlns:a16="http://schemas.microsoft.com/office/drawing/2014/main" id="{76112EE0-94E9-4167-B4F6-97D8F8A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686550"/>
            <a:ext cx="636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2"/>
                </a:solidFill>
              </a:defRPr>
            </a:pPr>
            <a:r>
              <a:rPr sz="2025" b="1">
                <a:solidFill>
                  <a:srgbClr val="172322"/>
                </a:solidFill>
              </a:rPr>
              <a:t>Close with boundaries</a:t>
            </a:r>
          </a:p>
        </p:txBody>
      </p:sp>
      <p:sp>
        <p:nvSpPr>
          <p:cNvPr id="20" name="step-body">
            <a:extLst xmlns:a="http://schemas.openxmlformats.org/drawingml/2006/main">
              <a:ext uri="{FF2B5EF4-FFF2-40B4-BE49-F238E27FC236}">
                <a16:creationId xmlns:a16="http://schemas.microsoft.com/office/drawing/2014/main" id="{94E2AE1B-03C0-48EA-82AF-84F7CF66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048500"/>
            <a:ext cx="636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5F"/>
                </a:solidFill>
              </a:defRPr>
            </a:pPr>
            <a:r>
              <a:rPr sz="1500" b="0">
                <a:solidFill>
                  <a:srgbClr val="53625F"/>
                </a:solidFill>
              </a:rPr>
              <a:t>Explain what reviewers should verify and where future work begins.</a:t>
            </a:r>
          </a:p>
        </p:txBody>
      </p:sp>
      <p:sp>
        <p:nvSpPr>
          <p:cNvPr id="21" name="screenshot-final-submission-package">
            <a:extLst xmlns:a="http://schemas.openxmlformats.org/drawingml/2006/main">
              <a:ext uri="{FF2B5EF4-FFF2-40B4-BE49-F238E27FC236}">
                <a16:creationId xmlns:a16="http://schemas.microsoft.com/office/drawing/2014/main" id="{7F8FD0F0-A69B-4C19-81B0-310590D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780" y="2537460"/>
            <a:ext cx="8561070" cy="6537960"/>
          </a:xfrm>
          <a:prstGeom xmlns:a="http://schemas.openxmlformats.org/drawingml/2006/main" prst="roundRect">
            <a:avLst>
              <a:gd name="adj" fmla="val 1166"/>
            </a:avLst>
          </a:prstGeom>
          <a:solidFill xmlns:a="http://schemas.openxmlformats.org/drawingml/2006/main">
            <a:srgbClr val="E8F1ED"/>
          </a:solidFill>
        </p:spPr>
      </p:sp>
      <p:sp>
        <p:nvSpPr>
          <p:cNvPr id="22" name="screenshot-needed-label">
            <a:extLst xmlns:a="http://schemas.openxmlformats.org/drawingml/2006/main">
              <a:ext uri="{FF2B5EF4-FFF2-40B4-BE49-F238E27FC236}">
                <a16:creationId xmlns:a16="http://schemas.microsoft.com/office/drawing/2014/main" id="{2109A315-EF93-439D-BF82-8F2F71F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86350"/>
            <a:ext cx="790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68A8"/>
                </a:solidFill>
              </a:defRPr>
            </a:pPr>
            <a:r>
              <a:rPr sz="1575" b="1">
                <a:solidFill>
                  <a:srgbClr val="2F68A8"/>
                </a:solidFill>
              </a:rPr>
              <a:t>Screenshot needed</a:t>
            </a:r>
          </a:p>
        </p:txBody>
      </p:sp>
      <p:sp>
        <p:nvSpPr>
          <p:cNvPr id="23" name="screenshot-title">
            <a:extLst xmlns:a="http://schemas.openxmlformats.org/drawingml/2006/main">
              <a:ext uri="{FF2B5EF4-FFF2-40B4-BE49-F238E27FC236}">
                <a16:creationId xmlns:a16="http://schemas.microsoft.com/office/drawing/2014/main" id="{84AB8F7C-8BDA-42ED-BEB9-7DF574DA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05450"/>
            <a:ext cx="790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2"/>
                </a:solidFill>
              </a:defRPr>
            </a:pPr>
            <a:r>
              <a:rPr sz="2325" b="1">
                <a:solidFill>
                  <a:srgbClr val="172322"/>
                </a:solidFill>
              </a:rPr>
              <a:t>Final submission package</a:t>
            </a:r>
          </a:p>
        </p:txBody>
      </p:sp>
      <p:sp>
        <p:nvSpPr>
          <p:cNvPr id="24" name="screenshot-detail">
            <a:extLst xmlns:a="http://schemas.openxmlformats.org/drawingml/2006/main">
              <a:ext uri="{FF2B5EF4-FFF2-40B4-BE49-F238E27FC236}">
                <a16:creationId xmlns:a16="http://schemas.microsoft.com/office/drawing/2014/main" id="{DB5948C0-1129-4F2F-8795-3DDC9DA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19800"/>
            <a:ext cx="790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5F"/>
                </a:solidFill>
              </a:defRPr>
            </a:pPr>
            <a:r>
              <a:rPr sz="1650" b="0">
                <a:solidFill>
                  <a:srgbClr val="53625F"/>
                </a:solidFill>
              </a:rPr>
              <a:t>Capture the GitHub docs folder or final repo view showing README, final_report.pdf, and final_presentation_draft.pptx.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77DFC19-BDA2-429B-972E-E58447D7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Submission: GitHub link, final report PDF, and slides</a:t>
            </a:r>
          </a:p>
        </p:txBody>
      </p:sp>
      <p:sp>
        <p:nvSpPr>
          <p:cNvPr id="2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04F7659-D6B7-4E21-B970-633C557F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315450"/>
            <a:ext cx="2438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5F"/>
                </a:solidFill>
              </a:defRPr>
            </a:pPr>
            <a:r>
              <a:rPr sz="1350" b="0">
                <a:solidFill>
                  <a:srgbClr val="53625F"/>
                </a:solidFill>
              </a:rPr>
              <a:t>Behavioral Health Access Navigator</a:t>
            </a:r>
          </a:p>
        </p:txBody>
      </p:sp>
    </p:spTree>
    <p:extLst>
      <p:ext uri="{BB962C8B-B14F-4D97-AF65-F5344CB8AC3E}">
        <p14:creationId xmlns:p14="http://schemas.microsoft.com/office/powerpoint/2010/main" val="1866777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2026-05-08T15:33:02.8470000Z</dcterms:created>
  <dcterms:modified xsi:type="dcterms:W3CDTF">2026-05-08T15:33:02.8470000Z</dcterms:modified>
</coreProperties>
</file>